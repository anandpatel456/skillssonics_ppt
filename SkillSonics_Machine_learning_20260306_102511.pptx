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498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8A"/>
                </a:solidFill>
                <a:latin typeface="Calibri Bold"/>
              </a:defRPr>
            </a:pPr>
            <a:r>
              <a:t>Machine Learning — Career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59E0B"/>
                </a:solidFill>
                <a:latin typeface="Calibri Bold"/>
              </a:defRPr>
            </a:pPr>
            <a:r>
              <a:t>Build a future-proof career in India's fastest-growing industry sector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Bold"/>
              </a:defRPr>
            </a:pPr>
            <a:r>
              <a:t>What You Will Learn in This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417320"/>
            <a:ext cx="4251960" cy="48006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1097280"/>
            <a:ext cx="1554480" cy="1554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34840" y="5212079"/>
            <a:ext cx="1188720" cy="11887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39027" y="405765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4251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017520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What You Will Learn in This Pr…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904488"/>
            <a:ext cx="33375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995928"/>
            <a:ext cx="3794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A623"/>
                </a:solidFill>
              </a:defRPr>
            </a:pPr>
            <a:r>
              <a:t>SkillSonics Training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4507992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572000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Industry 4.0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79" y="5074920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5138928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SkillSonics Certified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79" y="5641848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5705856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Job Placement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1417320"/>
            <a:ext cx="4160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Implement supervised learning algorithms using scikit-learn and TensorFlow for classification tasks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Develop neural networks using Keras and PyTorch for image recognition and natural language processing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Apply unsupervised learning techniques using clustering and dimensionality reduction for data analysis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Use Python and R programming languages for data manipulation and visualization in machine learning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Integrate machine learning models with cloud-based services like AWS SageMaker and Google Cloud AI Platform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Evaluate model performance using metrics like accuracy, precision, and recall for predictive 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Industry Insights &amp; Market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19656"/>
            <a:ext cx="1508760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057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A8A"/>
                </a:solidFill>
              </a:defRPr>
            </a:pPr>
            <a:r>
              <a:t>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11827"/>
                </a:solidFill>
              </a:defRPr>
            </a:pPr>
            <a:r>
              <a:t>Indian companies adopting machine learning for business growth and competitive advantage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819656"/>
            <a:ext cx="1508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920240"/>
            <a:ext cx="2057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</a:defRPr>
            </a:pPr>
            <a:r>
              <a:t>₹15L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24612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11827"/>
                </a:solidFill>
              </a:defRPr>
            </a:pPr>
            <a:r>
              <a:t>Average starting salary for machine learning engineers in Indian IT companies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819656"/>
            <a:ext cx="1508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2057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0B981"/>
                </a:solidFill>
              </a:defRPr>
            </a:pPr>
            <a:r>
              <a:t>2.5L+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11827"/>
                </a:solidFill>
              </a:defRPr>
            </a:pPr>
            <a:r>
              <a:t>New machine learning and AI jobs projected in India by 2025 across industries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819656"/>
            <a:ext cx="1508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920240"/>
            <a:ext cx="2057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8B5CF6"/>
                </a:solidFill>
              </a:defRPr>
            </a:pPr>
            <a:r>
              <a:t>₹1.5T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4612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11827"/>
                </a:solidFill>
              </a:defRPr>
            </a:pPr>
            <a:r>
              <a:t>Indian IT industry market size by 2025 driving large-scale machine learning investment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Bold"/>
              </a:defRPr>
            </a:pPr>
            <a:r>
              <a:t>Core Technical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417320"/>
            <a:ext cx="4251960" cy="48006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1097280"/>
            <a:ext cx="1554480" cy="1554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34840" y="5212079"/>
            <a:ext cx="1188720" cy="11887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39027" y="405765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4251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017520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Core Technical Concepts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904488"/>
            <a:ext cx="33375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995928"/>
            <a:ext cx="3794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A623"/>
                </a:solidFill>
              </a:defRPr>
            </a:pPr>
            <a:r>
              <a:t>SkillSonics Training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4507992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572000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Industry 4.0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79" y="5074920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5138928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SkillSonics Certified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79" y="5641848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5705856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Job Placement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1417320"/>
            <a:ext cx="4160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Linear Regression: predicting continuous outcomes using ordinary least squares and gradient descent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Decision Trees: classifying categorical data using entropy and information gain for feature selection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Support Vector Machines: maximizing margins and minimizing errors for robust classification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Deep Learning: using convolutional neural networks for image recognition and recurrent neural networks for sequence analysis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Natural Language Processing: applying tokenization, stemming, and lemmatization for text analysis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Model Evaluation: using cross-validation and bootstrapping for hyperparameter tuning and model selection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Traditional vs Modern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417320"/>
            <a:ext cx="4160520" cy="4846320"/>
          </a:xfrm>
          <a:prstGeom prst="roundRect">
            <a:avLst/>
          </a:prstGeom>
          <a:solidFill>
            <a:srgbClr val="EB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1417320"/>
            <a:ext cx="4160520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06240" y="3493008"/>
            <a:ext cx="713232" cy="713232"/>
          </a:xfrm>
          <a:prstGeom prst="ellipse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3611880"/>
            <a:ext cx="71323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646464"/>
                </a:solidFill>
              </a:defRPr>
            </a:pPr>
            <a: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827"/>
                </a:solidFill>
              </a:defRPr>
            </a:pPr>
            <a:r>
              <a:t>Traditional (Rule-Based)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84248"/>
            <a:ext cx="3566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11827"/>
                </a:solidFill>
              </a:defRPr>
            </a:pPr>
            <a:r>
              <a:t>• Manual rule-based systems require extensive domain expertise and coding effort</a:t>
            </a:r>
          </a:p>
          <a:p>
            <a:pPr>
              <a:spcAft>
                <a:spcPts val="1000"/>
              </a:spcAft>
              <a:defRPr sz="1300">
                <a:solidFill>
                  <a:srgbClr val="111827"/>
                </a:solidFill>
              </a:defRPr>
            </a:pPr>
            <a:r>
              <a:t>• Limited scalability and flexibility due to rigid rule-based architecture</a:t>
            </a:r>
          </a:p>
          <a:p>
            <a:pPr>
              <a:spcAft>
                <a:spcPts val="1000"/>
              </a:spcAft>
              <a:defRPr sz="1300">
                <a:solidFill>
                  <a:srgbClr val="111827"/>
                </a:solidFill>
              </a:defRPr>
            </a:pPr>
            <a:r>
              <a:t>• High maintenance costs due to frequent updates and modifications</a:t>
            </a:r>
          </a:p>
          <a:p>
            <a:pPr>
              <a:spcAft>
                <a:spcPts val="1000"/>
              </a:spcAft>
              <a:defRPr sz="1300">
                <a:solidFill>
                  <a:srgbClr val="111827"/>
                </a:solidFill>
              </a:defRPr>
            </a:pPr>
            <a:r>
              <a:t>• Poor handling of uncertainty and ambiguity in complex systems</a:t>
            </a:r>
          </a:p>
          <a:p>
            <a:pPr>
              <a:spcAft>
                <a:spcPts val="1000"/>
              </a:spcAft>
              <a:defRPr sz="1300">
                <a:solidFill>
                  <a:srgbClr val="111827"/>
                </a:solidFill>
              </a:defRPr>
            </a:pPr>
            <a:r>
              <a:t>• Limited ability to learn from data and adapt to changing environments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554480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Modern (Data-Driven)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84248"/>
            <a:ext cx="35661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✓ Machine learning models can learn from large datasets and improve over time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✓ Highly scalable and flexible architectures using cloud-based services and distributed computing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✓ Automated model selection and hyperparameter tuning using grid search and random search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✓ Robust handling of uncertainty and ambiguity using Bayesian methods and ensemble learning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✓ Continuous learning and adaptation using online learning and transfer learning techniques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Hands-On Training Curriculum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700784"/>
            <a:ext cx="402336" cy="40233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77724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Module 1 — Introduction to Machine Learning: basics of supervised and unsupervised learning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67004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706624"/>
            <a:ext cx="4023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15184"/>
            <a:ext cx="77724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Module 2 — Data Preprocessing: handling missing values, data normalization, and feature scaling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639312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675888"/>
            <a:ext cx="4023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84448"/>
            <a:ext cx="77724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Module 3 — Model Selection: choosing the right algorithm for classification, regression, and clustering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4608576"/>
            <a:ext cx="402336" cy="40233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645152"/>
            <a:ext cx="4023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53712"/>
            <a:ext cx="77724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Module 4 — Model Evaluation: using metrics and cross-validation for hyperparameter tuning and model selection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5577840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614416"/>
            <a:ext cx="4023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522976"/>
            <a:ext cx="77724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Module 5 — Deployment: integrating machine learning models with web applications and cloud-based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Bold"/>
              </a:defRPr>
            </a:pPr>
            <a:r>
              <a:t>Career Outcomes &amp; Salary Progression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417320"/>
            <a:ext cx="4251960" cy="48006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1097280"/>
            <a:ext cx="1554480" cy="1554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34840" y="5212079"/>
            <a:ext cx="1188720" cy="11887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39027" y="405765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4251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017520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Career Outcomes &amp; Salary Progr…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904488"/>
            <a:ext cx="33375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995928"/>
            <a:ext cx="3794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A623"/>
                </a:solidFill>
              </a:defRPr>
            </a:pPr>
            <a:r>
              <a:t>SkillSonics Training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4507992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572000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Industry 4.0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79" y="5074920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5138928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SkillSonics Certified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79" y="5641848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5705856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Job Placement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1417320"/>
            <a:ext cx="4160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Machine Learning Engineer at Google or Microsoft: ₹20L-30L per annum as starting package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Data Scientist at IBM or Accenture: ₹15L-25L per annum after one year of experience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AI/ML Researcher at IIT or IIIT: ₹10L-20L per annum with a strong research background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Business Analyst at Deloitte or KPMG: ₹8L-15L per annum with a focus on data-driven decision making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Certified Data Scientist with IBM Data Science Certification: globally recognised credential opening job opportunities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Average time from course completion to confirmed job offer: 3-6 months with active placement desk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Bold"/>
              </a:defRPr>
            </a:pPr>
            <a:r>
              <a:t>Machine Learning Tools and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417320"/>
            <a:ext cx="4251960" cy="48006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1097280"/>
            <a:ext cx="1554480" cy="1554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34840" y="5212079"/>
            <a:ext cx="1188720" cy="11887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39027" y="405765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4251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017520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Machine Learning Tools and Tec…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904488"/>
            <a:ext cx="33375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995928"/>
            <a:ext cx="3794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A623"/>
                </a:solidFill>
              </a:defRPr>
            </a:pPr>
            <a:r>
              <a:t>SkillSonics Training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4507992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572000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Industry 4.0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79" y="5074920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5138928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SkillSonics Certified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79" y="5641848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5705856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Job Placement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1417320"/>
            <a:ext cx="4160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Python programming language with NumPy, pandas, and scikit-learn libraries for machine learning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R programming language with dplyr, tidyr, and caret libraries for data manipulation and modeling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TensorFlow and Keras for deep learning and neural networks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Apache Spark and Hadoop for big data processing and distributed computing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Tableau and Power BI for data visualization and business intelligence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AWS SageMaker and Google Cloud AI Platform for cloud-based machine learning and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Bold"/>
              </a:defRPr>
            </a:pPr>
            <a:r>
              <a:t>Real-World Applications of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417320"/>
            <a:ext cx="4251960" cy="48006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1097280"/>
            <a:ext cx="1554480" cy="1554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34840" y="5212079"/>
            <a:ext cx="1188720" cy="11887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39027" y="405765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4251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017520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Real-World Applications of Mac…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904488"/>
            <a:ext cx="33375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995928"/>
            <a:ext cx="3794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A623"/>
                </a:solidFill>
              </a:defRPr>
            </a:pPr>
            <a:r>
              <a:t>SkillSonics Training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4507992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572000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Industry 4.0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79" y="5074920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5138928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SkillSonics Certified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79" y="5641848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5705856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Job Placement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1417320"/>
            <a:ext cx="4160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Image recognition and object detection using convolutional neural networks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Natural language processing and text analysis using recurrent neural networks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Predictive maintenance and anomaly detection using time series analysis and machine learning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Recommendation systems and personalization using collaborative filtering and content-based filtering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Speech recognition and voice assistants using deep learning and natural language processing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Autonomous vehicles and robotics using computer vision and machine learning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49640" cy="10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Bold"/>
              </a:defRPr>
            </a:pPr>
            <a:r>
              <a:t>Certifications and Professional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417320"/>
            <a:ext cx="4251960" cy="48006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1097280"/>
            <a:ext cx="1554480" cy="1554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34840" y="5212079"/>
            <a:ext cx="1188720" cy="11887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39027" y="405765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37360"/>
            <a:ext cx="4251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/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017520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Certifications and Professiona…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3904488"/>
            <a:ext cx="33375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995928"/>
            <a:ext cx="3794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A623"/>
                </a:solidFill>
              </a:defRPr>
            </a:pPr>
            <a:r>
              <a:t>SkillSonics Training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4507992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572000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BMS · BLDC · CAN Bus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79" y="5074920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5138928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ARAI Certification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79" y="5641848"/>
            <a:ext cx="36118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5705856"/>
            <a:ext cx="3520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5F"/>
                </a:solidFill>
              </a:defRPr>
            </a:pPr>
            <a:r>
              <a:t>₹28K Avg Salary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1508760"/>
            <a:ext cx="6400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1417320"/>
            <a:ext cx="4160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Certified Data Scientist with IBM Data Science Certification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Certified Machine Learning Engineer with Microsoft Professional Certification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Certified AI and Machine Learning Professional with Google Cloud Certification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Certified Analytics Professional with Institute for Operations Research and the Management Sciences Certification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Continuous learning and professional development through online courses and conferences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Calibri"/>
              </a:defRPr>
            </a:pPr>
            <a:r>
              <a:t>▸  Staying updated with industry trends and advancements through research papers and blogs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87325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SkillSonics  |  Empowering Careers Through Vocational Excellence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 Bold"/>
              </a:defRPr>
            </a:pPr>
            <a:r>
              <a:t>Begin Your Journey with SkillSonics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749039"/>
            <a:ext cx="54864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9319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111827"/>
                </a:solidFill>
              </a:defRPr>
            </a:pPr>
            <a:r>
              <a:t>📧  info@skillsonics.com</a:t>
            </a:r>
          </a:p>
          <a:p>
            <a:pPr algn="ctr">
              <a:spcAft>
                <a:spcPts val="600"/>
              </a:spcAft>
              <a:defRPr sz="1800">
                <a:solidFill>
                  <a:srgbClr val="111827"/>
                </a:solidFill>
              </a:defRPr>
            </a:pPr>
            <a:r>
              <a:t>🌐  www.skillsonics.com</a:t>
            </a:r>
          </a:p>
          <a:p>
            <a:pPr algn="ctr">
              <a:spcAft>
                <a:spcPts val="600"/>
              </a:spcAft>
              <a:defRPr sz="1800">
                <a:solidFill>
                  <a:srgbClr val="111827"/>
                </a:solidFill>
              </a:defRPr>
            </a:pPr>
            <a:r>
              <a:t>📞  +91-XXX-XXX-XXXX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